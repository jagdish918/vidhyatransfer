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76" r:id="rId3"/>
    <p:sldId id="289" r:id="rId4"/>
    <p:sldId id="285" r:id="rId5"/>
    <p:sldId id="286" r:id="rId6"/>
    <p:sldId id="290" r:id="rId7"/>
    <p:sldId id="294" r:id="rId8"/>
    <p:sldId id="291" r:id="rId9"/>
    <p:sldId id="292" r:id="rId10"/>
    <p:sldId id="293" r:id="rId11"/>
    <p:sldId id="287" r:id="rId12"/>
    <p:sldId id="280" r:id="rId13"/>
    <p:sldId id="281" r:id="rId14"/>
  </p:sldIdLst>
  <p:sldSz cx="18288000" cy="10287000"/>
  <p:notesSz cx="6858000" cy="9144000"/>
  <p:embeddedFontLst>
    <p:embeddedFont>
      <p:font typeface="Arial Bold" panose="020B0704020202020204" pitchFamily="34" charset="0"/>
      <p:regular r:id="rId16"/>
      <p:bold r:id="rId17"/>
    </p:embeddedFont>
    <p:embeddedFont>
      <p:font typeface="Montserrat Classic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5070" autoAdjust="0"/>
  </p:normalViewPr>
  <p:slideViewPr>
    <p:cSldViewPr>
      <p:cViewPr varScale="1">
        <p:scale>
          <a:sx n="54" d="100"/>
          <a:sy n="54" d="100"/>
        </p:scale>
        <p:origin x="782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F50E71-88C8-47E0-8B74-DA200148F4E1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497F9-85D5-4730-9780-160B68501A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006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497F9-85D5-4730-9780-160B68501A5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795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28800" y="5506679"/>
            <a:ext cx="14249400" cy="3345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279"/>
              </a:lnSpc>
            </a:pPr>
            <a:r>
              <a:rPr lang="en-US" sz="3999" dirty="0">
                <a:solidFill>
                  <a:srgbClr val="2E2E2E"/>
                </a:solidFill>
                <a:latin typeface="Arial"/>
                <a:ea typeface="Arial"/>
                <a:cs typeface="Arial"/>
                <a:sym typeface="Arial"/>
              </a:rPr>
              <a:t>Presented By: Kirtan Chauhan(20220702119), </a:t>
            </a:r>
          </a:p>
          <a:p>
            <a:pPr algn="ctr">
              <a:lnSpc>
                <a:spcPts val="5279"/>
              </a:lnSpc>
            </a:pPr>
            <a:r>
              <a:rPr lang="en-US" sz="3999" dirty="0">
                <a:solidFill>
                  <a:srgbClr val="2E2E2E"/>
                </a:solidFill>
                <a:latin typeface="Arial"/>
                <a:ea typeface="Arial"/>
                <a:cs typeface="Arial"/>
                <a:sym typeface="Arial"/>
              </a:rPr>
              <a:t>Jagdish Khandelwal(20220702080), </a:t>
            </a:r>
          </a:p>
          <a:p>
            <a:pPr algn="ctr">
              <a:lnSpc>
                <a:spcPts val="5279"/>
              </a:lnSpc>
            </a:pPr>
            <a:r>
              <a:rPr lang="en-US" sz="3999" dirty="0">
                <a:solidFill>
                  <a:srgbClr val="2E2E2E"/>
                </a:solidFill>
                <a:latin typeface="Arial"/>
                <a:ea typeface="Arial"/>
                <a:cs typeface="Arial"/>
                <a:sym typeface="Arial"/>
              </a:rPr>
              <a:t>Krishna Soni(20220702021)</a:t>
            </a:r>
          </a:p>
          <a:p>
            <a:pPr algn="ctr">
              <a:lnSpc>
                <a:spcPts val="5279"/>
              </a:lnSpc>
            </a:pPr>
            <a:endParaRPr lang="en-US" sz="3999" dirty="0">
              <a:solidFill>
                <a:srgbClr val="2E2E2E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5279"/>
              </a:lnSpc>
            </a:pPr>
            <a:r>
              <a:rPr lang="en-US" sz="3999" dirty="0">
                <a:solidFill>
                  <a:srgbClr val="2E2E2E"/>
                </a:solidFill>
                <a:latin typeface="Arial"/>
                <a:ea typeface="Arial"/>
                <a:cs typeface="Arial"/>
                <a:sym typeface="Arial"/>
              </a:rPr>
              <a:t>Project Guide: Mr. Jatin Ambasana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153719" y="3622121"/>
            <a:ext cx="11599562" cy="1301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6"/>
              </a:lnSpc>
            </a:pPr>
            <a:r>
              <a:rPr lang="en-US" sz="3600" dirty="0">
                <a:solidFill>
                  <a:srgbClr val="004AAD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VidhyaTransfer - Peer-to-Peer Skill Exchange and Learning Platform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309019" y="495300"/>
            <a:ext cx="7492582" cy="2460163"/>
            <a:chOff x="0" y="0"/>
            <a:chExt cx="10832125" cy="42743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47177" cy="4274348"/>
            </a:xfrm>
            <a:custGeom>
              <a:avLst/>
              <a:gdLst/>
              <a:ahLst/>
              <a:cxnLst/>
              <a:rect l="l" t="t" r="r" b="b"/>
              <a:pathLst>
                <a:path w="3547177" h="4274348">
                  <a:moveTo>
                    <a:pt x="0" y="0"/>
                  </a:moveTo>
                  <a:lnTo>
                    <a:pt x="3547177" y="0"/>
                  </a:lnTo>
                  <a:lnTo>
                    <a:pt x="3547177" y="4274348"/>
                  </a:lnTo>
                  <a:lnTo>
                    <a:pt x="0" y="427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10316" y="451968"/>
              <a:ext cx="5821809" cy="34370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557"/>
                </a:lnSpc>
              </a:pPr>
              <a:r>
                <a:rPr lang="en-US" sz="18745">
                  <a:solidFill>
                    <a:srgbClr val="000000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UIT</a:t>
              </a:r>
            </a:p>
          </p:txBody>
        </p:sp>
        <p:sp>
          <p:nvSpPr>
            <p:cNvPr id="11" name="AutoShape 11"/>
            <p:cNvSpPr/>
            <p:nvPr/>
          </p:nvSpPr>
          <p:spPr>
            <a:xfrm>
              <a:off x="4639646" y="0"/>
              <a:ext cx="0" cy="4274348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6ECEB-DDFD-4AE3-17BA-36065C3C6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C686599A-7F9C-2353-A57A-F6C212FD0ED5}"/>
              </a:ext>
            </a:extLst>
          </p:cNvPr>
          <p:cNvSpPr/>
          <p:nvPr/>
        </p:nvSpPr>
        <p:spPr>
          <a:xfrm>
            <a:off x="14170168" y="792921"/>
            <a:ext cx="1142771" cy="1377039"/>
          </a:xfrm>
          <a:custGeom>
            <a:avLst/>
            <a:gdLst/>
            <a:ahLst/>
            <a:cxnLst/>
            <a:rect l="l" t="t" r="r" b="b"/>
            <a:pathLst>
              <a:path w="1142771" h="1377039">
                <a:moveTo>
                  <a:pt x="0" y="0"/>
                </a:moveTo>
                <a:lnTo>
                  <a:pt x="1142770" y="0"/>
                </a:lnTo>
                <a:lnTo>
                  <a:pt x="1142770" y="1377038"/>
                </a:lnTo>
                <a:lnTo>
                  <a:pt x="0" y="13770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55A8097A-57C8-E7FA-7B1C-100B7CCACB8D}"/>
              </a:ext>
            </a:extLst>
          </p:cNvPr>
          <p:cNvSpPr/>
          <p:nvPr/>
        </p:nvSpPr>
        <p:spPr>
          <a:xfrm>
            <a:off x="15728339" y="672844"/>
            <a:ext cx="16366" cy="165043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246592C-F072-F19D-70C9-D560C3F57FA7}"/>
              </a:ext>
            </a:extLst>
          </p:cNvPr>
          <p:cNvSpPr txBox="1"/>
          <p:nvPr/>
        </p:nvSpPr>
        <p:spPr>
          <a:xfrm>
            <a:off x="15900178" y="954846"/>
            <a:ext cx="1875574" cy="1074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71"/>
              </a:lnSpc>
            </a:pPr>
            <a:r>
              <a:rPr lang="en-US" sz="8052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UIT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11DE342-BA87-7D8B-F4F7-9C99E365FB96}"/>
              </a:ext>
            </a:extLst>
          </p:cNvPr>
          <p:cNvSpPr txBox="1"/>
          <p:nvPr/>
        </p:nvSpPr>
        <p:spPr>
          <a:xfrm>
            <a:off x="1447289" y="914400"/>
            <a:ext cx="7680345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99"/>
              </a:lnSpc>
            </a:pPr>
            <a:r>
              <a:rPr lang="en-US" sz="3999" dirty="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</a:t>
            </a:r>
            <a:endParaRPr lang="en-US" sz="3999" dirty="0">
              <a:solidFill>
                <a:srgbClr val="004A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1585C3-E16B-E7CA-11DB-48223BE01C39}"/>
              </a:ext>
            </a:extLst>
          </p:cNvPr>
          <p:cNvSpPr txBox="1"/>
          <p:nvPr/>
        </p:nvSpPr>
        <p:spPr>
          <a:xfrm>
            <a:off x="1433001" y="2198535"/>
            <a:ext cx="12687338" cy="741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Skill Gap in Digital Learning: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High Barriers: Traditional tutoring is expensive, and finding reliable mentors is time-consuming.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Asynchronous Delays: Forums (like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StackOverflow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Youtube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 are slow; learners get stuck for hours waiting for a reply.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Lack of Micro-Incentives: Skilled professionals lack a platform to monetize short intervals (15-30 mins) of their expertise.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Fragmented Materials: Study materials and notes are scattered across different drives and WhatsApp groups.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AI Limitations: Despite advancements in AI code generation, it still struggles to deliver flawless code and cannot replicate the intuition, and contextual awareness of a human developer.</a:t>
            </a:r>
          </a:p>
        </p:txBody>
      </p:sp>
    </p:spTree>
    <p:extLst>
      <p:ext uri="{BB962C8B-B14F-4D97-AF65-F5344CB8AC3E}">
        <p14:creationId xmlns:p14="http://schemas.microsoft.com/office/powerpoint/2010/main" val="2482127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0C713-DF6B-EFD4-DE09-93DA21562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7117E7F0-F30B-57F5-4F86-D8763750F4CA}"/>
              </a:ext>
            </a:extLst>
          </p:cNvPr>
          <p:cNvSpPr/>
          <p:nvPr/>
        </p:nvSpPr>
        <p:spPr>
          <a:xfrm>
            <a:off x="14170168" y="792921"/>
            <a:ext cx="1142771" cy="1377039"/>
          </a:xfrm>
          <a:custGeom>
            <a:avLst/>
            <a:gdLst/>
            <a:ahLst/>
            <a:cxnLst/>
            <a:rect l="l" t="t" r="r" b="b"/>
            <a:pathLst>
              <a:path w="1142771" h="1377039">
                <a:moveTo>
                  <a:pt x="0" y="0"/>
                </a:moveTo>
                <a:lnTo>
                  <a:pt x="1142770" y="0"/>
                </a:lnTo>
                <a:lnTo>
                  <a:pt x="1142770" y="1377038"/>
                </a:lnTo>
                <a:lnTo>
                  <a:pt x="0" y="13770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D1508F93-1843-FA6F-2BE1-F508B04264A6}"/>
              </a:ext>
            </a:extLst>
          </p:cNvPr>
          <p:cNvSpPr/>
          <p:nvPr/>
        </p:nvSpPr>
        <p:spPr>
          <a:xfrm>
            <a:off x="15728339" y="672844"/>
            <a:ext cx="16366" cy="165043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5980CC3-9A5D-3242-8C07-47E3DEC6001A}"/>
              </a:ext>
            </a:extLst>
          </p:cNvPr>
          <p:cNvSpPr txBox="1"/>
          <p:nvPr/>
        </p:nvSpPr>
        <p:spPr>
          <a:xfrm>
            <a:off x="15900178" y="954846"/>
            <a:ext cx="1875574" cy="1074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71"/>
              </a:lnSpc>
            </a:pPr>
            <a:r>
              <a:rPr lang="en-US" sz="8052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UIT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BC8B7BF-C348-2CF3-9BBE-D2259DC53CF1}"/>
              </a:ext>
            </a:extLst>
          </p:cNvPr>
          <p:cNvSpPr txBox="1"/>
          <p:nvPr/>
        </p:nvSpPr>
        <p:spPr>
          <a:xfrm>
            <a:off x="1447289" y="914400"/>
            <a:ext cx="7680345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99"/>
              </a:lnSpc>
            </a:pPr>
            <a:r>
              <a:rPr lang="en-US" sz="3999" dirty="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Our Approach</a:t>
            </a:r>
            <a:endParaRPr lang="en-US" sz="3999" dirty="0">
              <a:solidFill>
                <a:srgbClr val="004A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7ECBDA-2E16-3E6E-1778-EA836F37B968}"/>
              </a:ext>
            </a:extLst>
          </p:cNvPr>
          <p:cNvSpPr txBox="1"/>
          <p:nvPr/>
        </p:nvSpPr>
        <p:spPr>
          <a:xfrm>
            <a:off x="1447289" y="2323280"/>
            <a:ext cx="12687338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User-Centric Design: Designed a platform prioritizing ease of use, enabling users to seamlessly discover peers, book sessions, and exchange knowledge.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Credit-Based Economy: Introduced a virtual credit system to monetize knowledge sharing, mentors earn credits by teaching, learners spend credits to learn, creating a self-sustaining ecosystem.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AI Integration: Leveraged AI-powered features (quiz and resource generation) to enhance the learning experience.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Real-Time Communication: Implemented real-time chat and video calling using Socket.IO and WebRTC, enabling instant, seamless mentor-learner interaction.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Iterative Development: Followed a Sprint based development with continuous feedback </a:t>
            </a:r>
            <a:r>
              <a:rPr lang="en-US" sz="2800">
                <a:latin typeface="Arial" panose="020B0604020202020204" pitchFamily="34" charset="0"/>
                <a:cs typeface="Arial" panose="020B0604020202020204" pitchFamily="34" charset="0"/>
              </a:rPr>
              <a:t>loops, iterating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on features like PeerSwap,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SkillGain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Instant Help, and the Resource Hub based on usability testing.</a:t>
            </a:r>
          </a:p>
        </p:txBody>
      </p:sp>
    </p:spTree>
    <p:extLst>
      <p:ext uri="{BB962C8B-B14F-4D97-AF65-F5344CB8AC3E}">
        <p14:creationId xmlns:p14="http://schemas.microsoft.com/office/powerpoint/2010/main" val="1711445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A404F-5872-087D-AF05-BD0E211F0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990250A9-2235-27E7-9CD8-B611C330F6C8}"/>
              </a:ext>
            </a:extLst>
          </p:cNvPr>
          <p:cNvSpPr/>
          <p:nvPr/>
        </p:nvSpPr>
        <p:spPr>
          <a:xfrm>
            <a:off x="14170168" y="792921"/>
            <a:ext cx="1142771" cy="1377039"/>
          </a:xfrm>
          <a:custGeom>
            <a:avLst/>
            <a:gdLst/>
            <a:ahLst/>
            <a:cxnLst/>
            <a:rect l="l" t="t" r="r" b="b"/>
            <a:pathLst>
              <a:path w="1142771" h="1377039">
                <a:moveTo>
                  <a:pt x="0" y="0"/>
                </a:moveTo>
                <a:lnTo>
                  <a:pt x="1142770" y="0"/>
                </a:lnTo>
                <a:lnTo>
                  <a:pt x="1142770" y="1377038"/>
                </a:lnTo>
                <a:lnTo>
                  <a:pt x="0" y="13770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DFEB132D-59B0-8A50-10DE-2EBA6D1F86BD}"/>
              </a:ext>
            </a:extLst>
          </p:cNvPr>
          <p:cNvSpPr/>
          <p:nvPr/>
        </p:nvSpPr>
        <p:spPr>
          <a:xfrm>
            <a:off x="15728339" y="672844"/>
            <a:ext cx="16366" cy="165043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C8ADA59-F869-A425-7DF2-C53E98EFC893}"/>
              </a:ext>
            </a:extLst>
          </p:cNvPr>
          <p:cNvSpPr txBox="1"/>
          <p:nvPr/>
        </p:nvSpPr>
        <p:spPr>
          <a:xfrm>
            <a:off x="15900178" y="954846"/>
            <a:ext cx="1875574" cy="1074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71"/>
              </a:lnSpc>
            </a:pPr>
            <a:r>
              <a:rPr lang="en-US" sz="8052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UIT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EE3B452-FEB6-81FE-4285-26E7A36BC769}"/>
              </a:ext>
            </a:extLst>
          </p:cNvPr>
          <p:cNvSpPr txBox="1"/>
          <p:nvPr/>
        </p:nvSpPr>
        <p:spPr>
          <a:xfrm>
            <a:off x="1447289" y="914400"/>
            <a:ext cx="7680345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99"/>
              </a:lnSpc>
            </a:pPr>
            <a:r>
              <a:rPr lang="en-US" sz="3999" dirty="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Technical Architecture</a:t>
            </a:r>
            <a:endParaRPr lang="en-US" sz="3999" dirty="0">
              <a:solidFill>
                <a:srgbClr val="004A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1D1790-8B1D-8DE5-3CD7-69694771FA8B}"/>
              </a:ext>
            </a:extLst>
          </p:cNvPr>
          <p:cNvSpPr txBox="1"/>
          <p:nvPr/>
        </p:nvSpPr>
        <p:spPr>
          <a:xfrm>
            <a:off x="1447289" y="2323280"/>
            <a:ext cx="1268733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Frontend: React.js, Vite, Tailwind CSS (for modern UI), Framer Motion (for fluid rendering).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Backend: Node.js, Express.js with RESTful APIs.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Database: MongoDB.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Real-Time Layer: Socket.IO for bi-directional signaling (chat, presence) combined with WebRTC for P2P video streaming.</a:t>
            </a: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193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9BBC7-5EE5-D48D-1E4B-E5236D8BA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D7F91258-91EA-FD51-4D2E-75EFF3CDCCF6}"/>
              </a:ext>
            </a:extLst>
          </p:cNvPr>
          <p:cNvSpPr/>
          <p:nvPr/>
        </p:nvSpPr>
        <p:spPr>
          <a:xfrm>
            <a:off x="14170168" y="792921"/>
            <a:ext cx="1142771" cy="1377039"/>
          </a:xfrm>
          <a:custGeom>
            <a:avLst/>
            <a:gdLst/>
            <a:ahLst/>
            <a:cxnLst/>
            <a:rect l="l" t="t" r="r" b="b"/>
            <a:pathLst>
              <a:path w="1142771" h="1377039">
                <a:moveTo>
                  <a:pt x="0" y="0"/>
                </a:moveTo>
                <a:lnTo>
                  <a:pt x="1142770" y="0"/>
                </a:lnTo>
                <a:lnTo>
                  <a:pt x="1142770" y="1377038"/>
                </a:lnTo>
                <a:lnTo>
                  <a:pt x="0" y="13770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711446BE-8E7A-CEDD-4028-9609BDC6EAA8}"/>
              </a:ext>
            </a:extLst>
          </p:cNvPr>
          <p:cNvSpPr/>
          <p:nvPr/>
        </p:nvSpPr>
        <p:spPr>
          <a:xfrm>
            <a:off x="15728339" y="672844"/>
            <a:ext cx="16366" cy="165043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8928C5B-67CB-07EB-C2AB-B3FDA1690585}"/>
              </a:ext>
            </a:extLst>
          </p:cNvPr>
          <p:cNvSpPr txBox="1"/>
          <p:nvPr/>
        </p:nvSpPr>
        <p:spPr>
          <a:xfrm>
            <a:off x="15900178" y="954846"/>
            <a:ext cx="1875574" cy="1074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71"/>
              </a:lnSpc>
            </a:pPr>
            <a:r>
              <a:rPr lang="en-US" sz="8052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UIT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B97A2BA-8A26-2829-752B-DA3B7F9E897C}"/>
              </a:ext>
            </a:extLst>
          </p:cNvPr>
          <p:cNvSpPr txBox="1"/>
          <p:nvPr/>
        </p:nvSpPr>
        <p:spPr>
          <a:xfrm>
            <a:off x="1447289" y="914400"/>
            <a:ext cx="7680345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99"/>
              </a:lnSpc>
            </a:pPr>
            <a:r>
              <a:rPr lang="en-US" sz="3999" dirty="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Core Platform Services</a:t>
            </a:r>
            <a:endParaRPr lang="en-US" sz="3999" dirty="0">
              <a:solidFill>
                <a:srgbClr val="004A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05DD96-6D79-08B3-1B86-3CA988CAC099}"/>
              </a:ext>
            </a:extLst>
          </p:cNvPr>
          <p:cNvSpPr txBox="1"/>
          <p:nvPr/>
        </p:nvSpPr>
        <p:spPr>
          <a:xfrm>
            <a:off x="1447289" y="2323280"/>
            <a:ext cx="12687338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backbone of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VidhyaTransfer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includes: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Authentication Service: Secure multi-step onboarding and identity management.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Real-time Engine: Instant messaging, live feed updates, and notification delivery via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WebSockets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Video Call Service: Peer-to-peer video communication for direct skill mentoring.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Transaction Engine: Secure credit management and payment gateway integration.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Resource Management: Modular system for learning materials.</a:t>
            </a: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412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078AF-5515-7A97-AFD4-CA271DACE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C36F377-ABDD-10D9-45FF-89BDD1DBA17E}"/>
              </a:ext>
            </a:extLst>
          </p:cNvPr>
          <p:cNvSpPr/>
          <p:nvPr/>
        </p:nvSpPr>
        <p:spPr>
          <a:xfrm>
            <a:off x="14170168" y="792921"/>
            <a:ext cx="1142771" cy="1377039"/>
          </a:xfrm>
          <a:custGeom>
            <a:avLst/>
            <a:gdLst/>
            <a:ahLst/>
            <a:cxnLst/>
            <a:rect l="l" t="t" r="r" b="b"/>
            <a:pathLst>
              <a:path w="1142771" h="1377039">
                <a:moveTo>
                  <a:pt x="0" y="0"/>
                </a:moveTo>
                <a:lnTo>
                  <a:pt x="1142770" y="0"/>
                </a:lnTo>
                <a:lnTo>
                  <a:pt x="1142770" y="1377038"/>
                </a:lnTo>
                <a:lnTo>
                  <a:pt x="0" y="13770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CE663D64-3CFB-CB6D-0006-FC6A633B92F0}"/>
              </a:ext>
            </a:extLst>
          </p:cNvPr>
          <p:cNvSpPr/>
          <p:nvPr/>
        </p:nvSpPr>
        <p:spPr>
          <a:xfrm>
            <a:off x="15728339" y="672844"/>
            <a:ext cx="16366" cy="165043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BE3E806-10F9-659F-B90C-3250A0CD13D3}"/>
              </a:ext>
            </a:extLst>
          </p:cNvPr>
          <p:cNvSpPr txBox="1"/>
          <p:nvPr/>
        </p:nvSpPr>
        <p:spPr>
          <a:xfrm>
            <a:off x="15900178" y="954846"/>
            <a:ext cx="1875574" cy="1074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71"/>
              </a:lnSpc>
            </a:pPr>
            <a:r>
              <a:rPr lang="en-US" sz="8052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UIT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ADFC2AB-EE64-4A27-0DF8-8EE79FC7950E}"/>
              </a:ext>
            </a:extLst>
          </p:cNvPr>
          <p:cNvSpPr txBox="1"/>
          <p:nvPr/>
        </p:nvSpPr>
        <p:spPr>
          <a:xfrm>
            <a:off x="1447289" y="914400"/>
            <a:ext cx="7680345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99"/>
              </a:lnSpc>
            </a:pPr>
            <a:r>
              <a:rPr lang="en-US" sz="3999" dirty="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PeerSwap: Community &amp; Connections</a:t>
            </a:r>
            <a:endParaRPr lang="en-US" sz="3999" dirty="0">
              <a:solidFill>
                <a:srgbClr val="004A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8AF82D-3437-D1F2-BF80-C86925B71FA1}"/>
              </a:ext>
            </a:extLst>
          </p:cNvPr>
          <p:cNvSpPr txBox="1"/>
          <p:nvPr/>
        </p:nvSpPr>
        <p:spPr>
          <a:xfrm>
            <a:off x="1447289" y="2323280"/>
            <a:ext cx="12687338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Feed: A dynamic, scrollable feed where users share updates, projects, and insights.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Networking: A robust connection system (Connect -&gt; Pending -&gt; Connected) to build a personalized professional graph.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Skill-Based Discovery: Search and filter peers based on overlapping skills to find the perfect study buddy or mentor.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Peer Swap: Users can exchange skills with another user without credits.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Skill Gain: User can learn desired skills from mentors available by spending credits.</a:t>
            </a:r>
          </a:p>
        </p:txBody>
      </p:sp>
    </p:spTree>
    <p:extLst>
      <p:ext uri="{BB962C8B-B14F-4D97-AF65-F5344CB8AC3E}">
        <p14:creationId xmlns:p14="http://schemas.microsoft.com/office/powerpoint/2010/main" val="6099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46880-6792-7A48-228A-DFCE7D6B9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8B51A5B4-235B-49DC-4487-4D424CFE1F51}"/>
              </a:ext>
            </a:extLst>
          </p:cNvPr>
          <p:cNvSpPr/>
          <p:nvPr/>
        </p:nvSpPr>
        <p:spPr>
          <a:xfrm>
            <a:off x="14170168" y="792921"/>
            <a:ext cx="1142771" cy="1377039"/>
          </a:xfrm>
          <a:custGeom>
            <a:avLst/>
            <a:gdLst/>
            <a:ahLst/>
            <a:cxnLst/>
            <a:rect l="l" t="t" r="r" b="b"/>
            <a:pathLst>
              <a:path w="1142771" h="1377039">
                <a:moveTo>
                  <a:pt x="0" y="0"/>
                </a:moveTo>
                <a:lnTo>
                  <a:pt x="1142770" y="0"/>
                </a:lnTo>
                <a:lnTo>
                  <a:pt x="1142770" y="1377038"/>
                </a:lnTo>
                <a:lnTo>
                  <a:pt x="0" y="13770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F4FD0A3E-58FB-C59E-7FC9-45478192E904}"/>
              </a:ext>
            </a:extLst>
          </p:cNvPr>
          <p:cNvSpPr/>
          <p:nvPr/>
        </p:nvSpPr>
        <p:spPr>
          <a:xfrm>
            <a:off x="15728339" y="672844"/>
            <a:ext cx="16366" cy="165043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5D09733-350C-08D1-037D-A2CC2190D8CA}"/>
              </a:ext>
            </a:extLst>
          </p:cNvPr>
          <p:cNvSpPr txBox="1"/>
          <p:nvPr/>
        </p:nvSpPr>
        <p:spPr>
          <a:xfrm>
            <a:off x="15900178" y="954846"/>
            <a:ext cx="1875574" cy="1074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71"/>
              </a:lnSpc>
            </a:pPr>
            <a:r>
              <a:rPr lang="en-US" sz="8052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UIT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64C358B-F65D-5037-1FFB-B0F6EE7BEB29}"/>
              </a:ext>
            </a:extLst>
          </p:cNvPr>
          <p:cNvSpPr txBox="1"/>
          <p:nvPr/>
        </p:nvSpPr>
        <p:spPr>
          <a:xfrm>
            <a:off x="1447289" y="914400"/>
            <a:ext cx="7680345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99"/>
              </a:lnSpc>
            </a:pPr>
            <a:r>
              <a:rPr lang="en-US" sz="3999" dirty="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Resources &amp; Smart Learning Page</a:t>
            </a:r>
            <a:endParaRPr lang="en-US" sz="3999" dirty="0">
              <a:solidFill>
                <a:srgbClr val="004A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9F4C13-531D-C801-5D53-16ED0CA53BEE}"/>
              </a:ext>
            </a:extLst>
          </p:cNvPr>
          <p:cNvSpPr txBox="1"/>
          <p:nvPr/>
        </p:nvSpPr>
        <p:spPr>
          <a:xfrm>
            <a:off x="1447289" y="2323280"/>
            <a:ext cx="12687338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AI-Powered Core (Google Gemini 2.0 Flash)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Real-time, personalized 1:1 AI Tutor delivering dynamic, adaptive content.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Smart Roadmap Generation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Transforms any skill (e.g., MERN Stack) into a structured, module-based learning path with custom timelines.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On-Demand Smart Notes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Auto-generated notes with key concepts, definitions, and live code examples for every topic.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Continuous Learning Loop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Daily quizzes + progress tracking for long-term retention</a:t>
            </a:r>
          </a:p>
        </p:txBody>
      </p:sp>
    </p:spTree>
    <p:extLst>
      <p:ext uri="{BB962C8B-B14F-4D97-AF65-F5344CB8AC3E}">
        <p14:creationId xmlns:p14="http://schemas.microsoft.com/office/powerpoint/2010/main" val="4076656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ABFF8-9CEB-AF6C-4849-CC1E59E57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ACE6C275-4739-A371-4AF3-1FD6BE191B70}"/>
              </a:ext>
            </a:extLst>
          </p:cNvPr>
          <p:cNvSpPr/>
          <p:nvPr/>
        </p:nvSpPr>
        <p:spPr>
          <a:xfrm>
            <a:off x="14170168" y="792921"/>
            <a:ext cx="1142771" cy="1377039"/>
          </a:xfrm>
          <a:custGeom>
            <a:avLst/>
            <a:gdLst/>
            <a:ahLst/>
            <a:cxnLst/>
            <a:rect l="l" t="t" r="r" b="b"/>
            <a:pathLst>
              <a:path w="1142771" h="1377039">
                <a:moveTo>
                  <a:pt x="0" y="0"/>
                </a:moveTo>
                <a:lnTo>
                  <a:pt x="1142770" y="0"/>
                </a:lnTo>
                <a:lnTo>
                  <a:pt x="1142770" y="1377038"/>
                </a:lnTo>
                <a:lnTo>
                  <a:pt x="0" y="13770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B1FF5CBB-00A3-0DF9-2527-48A4347AB517}"/>
              </a:ext>
            </a:extLst>
          </p:cNvPr>
          <p:cNvSpPr/>
          <p:nvPr/>
        </p:nvSpPr>
        <p:spPr>
          <a:xfrm>
            <a:off x="15728339" y="672844"/>
            <a:ext cx="16366" cy="165043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2B42F2C-9EEF-B4EE-3BA1-1CD8A568AF42}"/>
              </a:ext>
            </a:extLst>
          </p:cNvPr>
          <p:cNvSpPr txBox="1"/>
          <p:nvPr/>
        </p:nvSpPr>
        <p:spPr>
          <a:xfrm>
            <a:off x="15900178" y="954846"/>
            <a:ext cx="1875574" cy="1074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71"/>
              </a:lnSpc>
            </a:pPr>
            <a:r>
              <a:rPr lang="en-US" sz="8052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UIT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478E16D-F492-B5A2-5925-838C913B5E7D}"/>
              </a:ext>
            </a:extLst>
          </p:cNvPr>
          <p:cNvSpPr txBox="1"/>
          <p:nvPr/>
        </p:nvSpPr>
        <p:spPr>
          <a:xfrm>
            <a:off x="1447289" y="914400"/>
            <a:ext cx="7680345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99"/>
              </a:lnSpc>
            </a:pPr>
            <a:r>
              <a:rPr lang="en-US" sz="3999" dirty="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Instant Help &amp; Video Collaboration</a:t>
            </a:r>
            <a:endParaRPr lang="en-US" sz="3999" dirty="0">
              <a:solidFill>
                <a:srgbClr val="004A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067951-D27B-DF9F-90E5-B6F0C8ACB6FD}"/>
              </a:ext>
            </a:extLst>
          </p:cNvPr>
          <p:cNvSpPr txBox="1"/>
          <p:nvPr/>
        </p:nvSpPr>
        <p:spPr>
          <a:xfrm>
            <a:off x="1447289" y="2323280"/>
            <a:ext cx="1268733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stant Help: Users can get On-demand service from available providers.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Real-Time Pinging: Learners can send immediate SOS requests to online providers.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Floating Chat Widget: Providers receive global, auto-dismissing popups and a floating chat interface to accept requests without breaking their workflow.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One-Click WebRTC Video: Accepting a request seamlessly synchronizes both users into an integrated Video/Audio call.</a:t>
            </a: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185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69967-FE78-50AE-72EB-5512D7412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CC15E55E-A94D-CC67-CF9E-4C21577084FD}"/>
              </a:ext>
            </a:extLst>
          </p:cNvPr>
          <p:cNvSpPr/>
          <p:nvPr/>
        </p:nvSpPr>
        <p:spPr>
          <a:xfrm>
            <a:off x="14170168" y="792921"/>
            <a:ext cx="1142771" cy="1377039"/>
          </a:xfrm>
          <a:custGeom>
            <a:avLst/>
            <a:gdLst/>
            <a:ahLst/>
            <a:cxnLst/>
            <a:rect l="l" t="t" r="r" b="b"/>
            <a:pathLst>
              <a:path w="1142771" h="1377039">
                <a:moveTo>
                  <a:pt x="0" y="0"/>
                </a:moveTo>
                <a:lnTo>
                  <a:pt x="1142770" y="0"/>
                </a:lnTo>
                <a:lnTo>
                  <a:pt x="1142770" y="1377038"/>
                </a:lnTo>
                <a:lnTo>
                  <a:pt x="0" y="13770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F892C51-0C19-B3C9-F079-85C8BB30B7C1}"/>
              </a:ext>
            </a:extLst>
          </p:cNvPr>
          <p:cNvSpPr/>
          <p:nvPr/>
        </p:nvSpPr>
        <p:spPr>
          <a:xfrm>
            <a:off x="15728339" y="672844"/>
            <a:ext cx="16366" cy="165043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3D4935E-ECA1-FDF8-46CC-0ECC060C587F}"/>
              </a:ext>
            </a:extLst>
          </p:cNvPr>
          <p:cNvSpPr txBox="1"/>
          <p:nvPr/>
        </p:nvSpPr>
        <p:spPr>
          <a:xfrm>
            <a:off x="15900178" y="954846"/>
            <a:ext cx="1875574" cy="1074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71"/>
              </a:lnSpc>
            </a:pPr>
            <a:r>
              <a:rPr lang="en-US" sz="8052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UIT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6184614-641A-47F0-0818-1EC5727A7587}"/>
              </a:ext>
            </a:extLst>
          </p:cNvPr>
          <p:cNvSpPr txBox="1"/>
          <p:nvPr/>
        </p:nvSpPr>
        <p:spPr>
          <a:xfrm>
            <a:off x="1447289" y="914400"/>
            <a:ext cx="7680345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99"/>
              </a:lnSpc>
            </a:pPr>
            <a:r>
              <a:rPr lang="en-US" sz="3999" dirty="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The Credit Economy &amp; Escrow System</a:t>
            </a:r>
            <a:endParaRPr lang="en-US" sz="3999" dirty="0">
              <a:solidFill>
                <a:srgbClr val="004A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5A26B0-BBE6-5929-238D-7B95CB3B14F9}"/>
              </a:ext>
            </a:extLst>
          </p:cNvPr>
          <p:cNvSpPr txBox="1"/>
          <p:nvPr/>
        </p:nvSpPr>
        <p:spPr>
          <a:xfrm>
            <a:off x="1447289" y="2323280"/>
            <a:ext cx="1268733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Platform Currency: Built on a proprietary virtual "Credit" system for frictionless micro-transactions.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Smart Escrow Arrangement: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When a learner requests help, credits are pre-authorized and locked.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If the session completes, credits automatically transfer to the provider.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If declined/expired (timeout), credits instantly refund to the learner.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Financial Dashboard: A complete, beautifully designed GUI for users to track their transaction ledger.</a:t>
            </a: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93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58EF9-5A3C-92A5-91C4-00554CCF8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AD6943F0-B76E-AF30-E863-6504E3EDDA4E}"/>
              </a:ext>
            </a:extLst>
          </p:cNvPr>
          <p:cNvSpPr/>
          <p:nvPr/>
        </p:nvSpPr>
        <p:spPr>
          <a:xfrm>
            <a:off x="14170168" y="792921"/>
            <a:ext cx="1142771" cy="1377039"/>
          </a:xfrm>
          <a:custGeom>
            <a:avLst/>
            <a:gdLst/>
            <a:ahLst/>
            <a:cxnLst/>
            <a:rect l="l" t="t" r="r" b="b"/>
            <a:pathLst>
              <a:path w="1142771" h="1377039">
                <a:moveTo>
                  <a:pt x="0" y="0"/>
                </a:moveTo>
                <a:lnTo>
                  <a:pt x="1142770" y="0"/>
                </a:lnTo>
                <a:lnTo>
                  <a:pt x="1142770" y="1377038"/>
                </a:lnTo>
                <a:lnTo>
                  <a:pt x="0" y="13770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8489EFED-B9CC-5C7A-BA57-1FCFF0B984CE}"/>
              </a:ext>
            </a:extLst>
          </p:cNvPr>
          <p:cNvSpPr/>
          <p:nvPr/>
        </p:nvSpPr>
        <p:spPr>
          <a:xfrm>
            <a:off x="15728339" y="672844"/>
            <a:ext cx="16366" cy="165043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AB8FA0A-2022-1708-4969-E5AC188128F0}"/>
              </a:ext>
            </a:extLst>
          </p:cNvPr>
          <p:cNvSpPr txBox="1"/>
          <p:nvPr/>
        </p:nvSpPr>
        <p:spPr>
          <a:xfrm>
            <a:off x="15900178" y="954846"/>
            <a:ext cx="1875574" cy="1074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71"/>
              </a:lnSpc>
            </a:pPr>
            <a:r>
              <a:rPr lang="en-US" sz="8052">
                <a:solidFill>
                  <a:srgbClr val="000000"/>
                </a:solidFill>
                <a:latin typeface="Montserrat Classic Bold"/>
                <a:ea typeface="Montserrat Classic Bold"/>
                <a:cs typeface="Times New Roman" panose="02020603050405020304" pitchFamily="18" charset="0"/>
                <a:sym typeface="Montserrat Classic Bold"/>
              </a:rPr>
              <a:t>UIT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783950C-4584-0124-9622-623C9ACB009A}"/>
              </a:ext>
            </a:extLst>
          </p:cNvPr>
          <p:cNvSpPr txBox="1"/>
          <p:nvPr/>
        </p:nvSpPr>
        <p:spPr>
          <a:xfrm>
            <a:off x="1447289" y="914400"/>
            <a:ext cx="7680345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99"/>
              </a:lnSpc>
            </a:pPr>
            <a:r>
              <a:rPr lang="en-US" sz="3999" dirty="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Advanced Real-Time Chat Engine</a:t>
            </a:r>
            <a:endParaRPr lang="en-US" sz="3999" dirty="0">
              <a:solidFill>
                <a:srgbClr val="004A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BCB647-30EE-19BE-EB27-DB77AC113715}"/>
              </a:ext>
            </a:extLst>
          </p:cNvPr>
          <p:cNvSpPr txBox="1"/>
          <p:nvPr/>
        </p:nvSpPr>
        <p:spPr>
          <a:xfrm>
            <a:off x="1447289" y="2323280"/>
            <a:ext cx="1268733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Live Presence: Real-time Online/Offline tracking with animated indicators.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Typing Pulse &amp; Read Receipts: Animated typing bubbles and WhatsApp-style tracking.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Financial Receipts inside Chat: Integrated UI alerts displaying Transfer Complete when credits move between users.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Pagination: Infinite scrolling capabilities for optimized database queries on old messages.</a:t>
            </a: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31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C0E99-F446-3986-252F-CC34052E3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8B0892FC-3E63-26D7-DC42-AB676ED13FB1}"/>
              </a:ext>
            </a:extLst>
          </p:cNvPr>
          <p:cNvSpPr/>
          <p:nvPr/>
        </p:nvSpPr>
        <p:spPr>
          <a:xfrm>
            <a:off x="14170168" y="792921"/>
            <a:ext cx="1142771" cy="1377039"/>
          </a:xfrm>
          <a:custGeom>
            <a:avLst/>
            <a:gdLst/>
            <a:ahLst/>
            <a:cxnLst/>
            <a:rect l="l" t="t" r="r" b="b"/>
            <a:pathLst>
              <a:path w="1142771" h="1377039">
                <a:moveTo>
                  <a:pt x="0" y="0"/>
                </a:moveTo>
                <a:lnTo>
                  <a:pt x="1142770" y="0"/>
                </a:lnTo>
                <a:lnTo>
                  <a:pt x="1142770" y="1377038"/>
                </a:lnTo>
                <a:lnTo>
                  <a:pt x="0" y="13770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19374B81-1F7E-55F9-8D9A-600C6ECE09CD}"/>
              </a:ext>
            </a:extLst>
          </p:cNvPr>
          <p:cNvSpPr/>
          <p:nvPr/>
        </p:nvSpPr>
        <p:spPr>
          <a:xfrm>
            <a:off x="15728339" y="672844"/>
            <a:ext cx="16366" cy="165043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38A35B8-AF05-04D0-0CBA-FBC4708819C6}"/>
              </a:ext>
            </a:extLst>
          </p:cNvPr>
          <p:cNvSpPr txBox="1"/>
          <p:nvPr/>
        </p:nvSpPr>
        <p:spPr>
          <a:xfrm>
            <a:off x="15900178" y="954846"/>
            <a:ext cx="1875574" cy="1074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71"/>
              </a:lnSpc>
            </a:pPr>
            <a:r>
              <a:rPr lang="en-US" sz="8052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UIT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82167E1-137E-8672-99CF-1E8D93E6B04F}"/>
              </a:ext>
            </a:extLst>
          </p:cNvPr>
          <p:cNvSpPr txBox="1"/>
          <p:nvPr/>
        </p:nvSpPr>
        <p:spPr>
          <a:xfrm>
            <a:off x="1447289" y="914400"/>
            <a:ext cx="7680345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99"/>
              </a:lnSpc>
            </a:pPr>
            <a:r>
              <a:rPr lang="en-US" sz="3999" dirty="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Admin Panel Modules</a:t>
            </a:r>
            <a:endParaRPr lang="en-US" sz="3999" dirty="0">
              <a:solidFill>
                <a:srgbClr val="004A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D5A8B7-3EFF-4DF7-CA50-6CFF8B54D5E4}"/>
              </a:ext>
            </a:extLst>
          </p:cNvPr>
          <p:cNvSpPr txBox="1"/>
          <p:nvPr/>
        </p:nvSpPr>
        <p:spPr>
          <a:xfrm>
            <a:off x="1447289" y="2323280"/>
            <a:ext cx="12687338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Essential tools for platform administrators: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Real-time Dashboard: Visualize platform growth, active users, and transaction volume.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User Management Room: Complete control over user accounts (Moderation, Suspension).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Conflict Resolution (Reports): Streamlined interface to review and resolve user-submitted grievances.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Event: Manage platform-wide educational events and webinars.</a:t>
            </a: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lvl="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Content Moderation: Review posts and activities to ensure community guidelines are followed.</a:t>
            </a:r>
            <a:endParaRPr lang="en-US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092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91F3CA-F4DC-7AAD-1A14-995597B54E4B}"/>
              </a:ext>
            </a:extLst>
          </p:cNvPr>
          <p:cNvSpPr txBox="1"/>
          <p:nvPr/>
        </p:nvSpPr>
        <p:spPr>
          <a:xfrm>
            <a:off x="6591300" y="4420225"/>
            <a:ext cx="5105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49053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B2F1F-7C1F-AFD5-5646-F4CEE3BF4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9B65D10D-4D06-FBA5-F59C-2733E39581DE}"/>
              </a:ext>
            </a:extLst>
          </p:cNvPr>
          <p:cNvSpPr/>
          <p:nvPr/>
        </p:nvSpPr>
        <p:spPr>
          <a:xfrm>
            <a:off x="14170168" y="792921"/>
            <a:ext cx="1142771" cy="1377039"/>
          </a:xfrm>
          <a:custGeom>
            <a:avLst/>
            <a:gdLst/>
            <a:ahLst/>
            <a:cxnLst/>
            <a:rect l="l" t="t" r="r" b="b"/>
            <a:pathLst>
              <a:path w="1142771" h="1377039">
                <a:moveTo>
                  <a:pt x="0" y="0"/>
                </a:moveTo>
                <a:lnTo>
                  <a:pt x="1142770" y="0"/>
                </a:lnTo>
                <a:lnTo>
                  <a:pt x="1142770" y="1377038"/>
                </a:lnTo>
                <a:lnTo>
                  <a:pt x="0" y="13770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DDC86F03-0413-93B4-628F-6DA6DD25C001}"/>
              </a:ext>
            </a:extLst>
          </p:cNvPr>
          <p:cNvSpPr/>
          <p:nvPr/>
        </p:nvSpPr>
        <p:spPr>
          <a:xfrm>
            <a:off x="15728339" y="672844"/>
            <a:ext cx="16366" cy="165043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838EA2D-5E20-8ABB-6EB8-3F0A3E6AF6ED}"/>
              </a:ext>
            </a:extLst>
          </p:cNvPr>
          <p:cNvSpPr txBox="1"/>
          <p:nvPr/>
        </p:nvSpPr>
        <p:spPr>
          <a:xfrm>
            <a:off x="15900178" y="954846"/>
            <a:ext cx="1875574" cy="1074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71"/>
              </a:lnSpc>
            </a:pPr>
            <a:r>
              <a:rPr lang="en-US" sz="8052">
                <a:solidFill>
                  <a:srgbClr val="00000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UIT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A1DCF3E-1963-17A2-361B-9A22ECBE8477}"/>
              </a:ext>
            </a:extLst>
          </p:cNvPr>
          <p:cNvSpPr txBox="1"/>
          <p:nvPr/>
        </p:nvSpPr>
        <p:spPr>
          <a:xfrm>
            <a:off x="1447289" y="914400"/>
            <a:ext cx="10744711" cy="512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99"/>
              </a:lnSpc>
            </a:pPr>
            <a:r>
              <a:rPr lang="en-US" sz="3999" dirty="0">
                <a:solidFill>
                  <a:srgbClr val="004AAD"/>
                </a:solidFill>
                <a:latin typeface="Arial Bold"/>
                <a:ea typeface="Arial Bold"/>
                <a:cs typeface="Arial Bold"/>
                <a:sym typeface="Arial Bold"/>
              </a:rPr>
              <a:t>Revenue Model</a:t>
            </a:r>
            <a:endParaRPr lang="en-US" sz="3999" dirty="0">
              <a:solidFill>
                <a:srgbClr val="004A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D5BE40-BBFD-5E1B-70D1-B4A8CCCE8999}"/>
              </a:ext>
            </a:extLst>
          </p:cNvPr>
          <p:cNvSpPr txBox="1"/>
          <p:nvPr/>
        </p:nvSpPr>
        <p:spPr>
          <a:xfrm>
            <a:off x="1447289" y="2323280"/>
            <a:ext cx="10880744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Advertisements: Revenue generated through targeted, skill-based ads displayed on users’ activity feeds.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Credit-Based Earning: Users earn and redeem platform credits by exchanging skills and contributing knowledge.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Event Posting &amp; Attending Fees: Income from hosting, promoting, and participating in paid workshops, webinars, and skill events.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Subscription Model: Premium plans offering exclusive resources, structured roadmaps, and discounts across platform services.</a:t>
            </a:r>
          </a:p>
        </p:txBody>
      </p:sp>
    </p:spTree>
    <p:extLst>
      <p:ext uri="{BB962C8B-B14F-4D97-AF65-F5344CB8AC3E}">
        <p14:creationId xmlns:p14="http://schemas.microsoft.com/office/powerpoint/2010/main" val="3377007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1533</TotalTime>
  <Words>957</Words>
  <Application>Microsoft Office PowerPoint</Application>
  <PresentationFormat>Custom</PresentationFormat>
  <Paragraphs>129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Bold</vt:lpstr>
      <vt:lpstr>Montserrat Classic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Orange Professional Company Profile Presentation</dc:title>
  <dc:creator>hp</dc:creator>
  <cp:lastModifiedBy>Kirtan Chauhan</cp:lastModifiedBy>
  <cp:revision>44</cp:revision>
  <dcterms:created xsi:type="dcterms:W3CDTF">2006-08-16T00:00:00Z</dcterms:created>
  <dcterms:modified xsi:type="dcterms:W3CDTF">2026-05-04T23:02:45Z</dcterms:modified>
  <dc:identifier>DAGKE7L6sOw</dc:identifier>
</cp:coreProperties>
</file>